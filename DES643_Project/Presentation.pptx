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5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4630400" cy="8229600"/>
  <p:notesSz cx="8229600" cy="14630400"/>
  <p:embeddedFontLst>
    <p:embeddedFont>
      <p:font typeface="Gelasio" pitchFamily="2" charset="77"/>
      <p:regular r:id="rId19"/>
    </p:embeddedFont>
    <p:embeddedFont>
      <p:font typeface="Gelasio Semi Bold" pitchFamily="2" charset="7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107"/>
    <p:restoredTop sz="96296"/>
  </p:normalViewPr>
  <p:slideViewPr>
    <p:cSldViewPr snapToGrid="0" snapToObjects="1">
      <p:cViewPr varScale="1">
        <p:scale>
          <a:sx n="38" d="100"/>
          <a:sy n="38" d="100"/>
        </p:scale>
        <p:origin x="20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09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8CF9A-ACAF-2F59-96B9-3CF094A6B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200"/>
            <a:ext cx="10972800" cy="28654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9062A-CD04-EE40-782C-CBD29A14F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763"/>
            <a:ext cx="10972800" cy="19859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241D1-5445-3B72-0DED-D6E7AB202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B6A1D-93A9-5798-67D8-F64E8E4F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9701F-3999-8C3F-203F-16BD90C7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44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69CB-F3DC-5036-B2A4-C8CD76947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D6BE9-E0FD-925F-FB83-30B92087B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C8BA4-868D-838C-CD1A-F4919D1B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FC75C-2790-5D76-2663-04615252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BB666-B5F3-311E-8556-AF0B8E57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31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DD9A-BAE6-F82A-450B-7E84E2527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538" y="2051050"/>
            <a:ext cx="12619037" cy="34242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E532E-7B7E-1982-E945-79093F520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538" y="5507038"/>
            <a:ext cx="12619037" cy="18002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DF79F-D762-1526-1B84-FF734837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99BB8-9432-6CA1-D4EB-A3B988243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9A77E-69B1-8613-BAB8-BC1D0800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7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B5DB-47C8-DA9E-C9D8-46CA9198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808CC-EB3E-D2A3-3D3C-607CF1BA4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6475" y="2190750"/>
            <a:ext cx="6232525" cy="5221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BA67C-8D96-1FB5-2898-B121063AD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91400" y="2190750"/>
            <a:ext cx="6232525" cy="5221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D8707-7BBC-9DBC-AB99-5AF9A59DC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66F0C-1E49-D950-E306-AE37928D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03EDB-3326-CCF1-1032-F720F579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61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A46D-0B3B-1964-F299-53A1D1BD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38150"/>
            <a:ext cx="12619037" cy="15906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1B6DF-1F4C-2D0B-A9FD-07AD8B630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63" y="2017713"/>
            <a:ext cx="6189662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5C349-BCB4-121D-9704-F83759C83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8063" y="3006725"/>
            <a:ext cx="6189662" cy="4421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F395B3-14B9-BFBC-D4E6-E7EA2DBE4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7275" y="2017713"/>
            <a:ext cx="6219825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C2B94-71CA-361E-6E45-896DE8C95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7275" y="3006725"/>
            <a:ext cx="6219825" cy="4421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2E40F-0DFE-C3E9-10A7-1CCCAC90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37560-329F-A428-0613-DA0A9EAD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0729B4-0F20-7C86-63C3-18462C16B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73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AC02-0EC6-0B08-1FFE-8F78944D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1D197-F4F9-B23E-8F88-01B395AD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B2A80-9F4A-2475-5BF0-6013F244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6F175-C654-BD62-9950-4CFEB572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03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54F45D-3BCB-B491-6BFD-3B4F2803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EAC30-D7A3-7548-E5A7-B67A0B3E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BD20C-B9E5-2C3F-DE75-60722F0C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63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506D-C994-9925-9613-95B46AE50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23137-21FA-9438-F142-114F027AD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1C0AB-62A6-2C9B-2BD8-3F15A2E52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D4A69-17C6-E422-4810-051FBDBD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BDE13-FD68-3D90-5996-414E46B2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2ACFF-1A03-7018-7329-F43982F1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52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BD9A-1083-9575-E67D-243E55BF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076C-D8D5-66B8-C23C-85F9A122B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1FAF2-2CB2-841E-3293-569C7E00A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5857C-3E27-78AA-8E3C-6B2A8CD6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8D90D-9E53-E5D9-499B-C5EC3906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BA31B-3B14-9817-D434-F6099FC7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69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0610-CD8E-B930-CCB7-65F43ACE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A0281-0102-6B61-0B14-743EC7339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F34B1-DF1B-8F0D-3F45-36686B3A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8E587-6CEA-CD0E-D357-D1A36B3F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D99EA-6F2E-637F-6E24-603ADBA4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34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891D8-8EF6-1058-425D-756C3972B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563" y="438150"/>
            <a:ext cx="3154362" cy="697388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09EBD-367A-EEBD-BA10-E9E14676B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75" y="438150"/>
            <a:ext cx="9310688" cy="697388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C22DA-54CA-C75D-D7AA-E8D063C5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B9936-53C4-5DF1-436F-1092E27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44AE-BA19-30BC-3EF8-506735F6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72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2E26A-DC67-B93E-5BC1-BDE39FF0E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5FBF9-5FD4-E59A-CCF7-853F602AF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475" y="2190750"/>
            <a:ext cx="12617450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812E6-B3BF-3DC1-B602-F2C0B5925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73A5DA-095D-A04A-8A38-8871DFF4A87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FB11-80D5-1CFF-3291-5845BA7AF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AE72B-9631-21E0-3004-7DBB4291A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2A41A-85B9-6F47-BA1A-4D3D7B6F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7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89971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Scientific Experiment Simulator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96703"/>
            <a:ext cx="4885015" cy="4885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214562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39828" y="2735342"/>
            <a:ext cx="37590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Electric Field Visualization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39828" y="3316486"/>
            <a:ext cx="7604284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Badrinath Tirlangi (231098)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Prem Santhosh Vempati (231137)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Hemanth Kumar Ampili (230128)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Shaik Jameel Ur Rahaman (230951)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Karthik Koneti (230568)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9828" y="565225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DES643 – Design with AR/VR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484948"/>
            <a:ext cx="5259705" cy="52597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1004292"/>
            <a:ext cx="2561153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29878" y="1072277"/>
            <a:ext cx="22889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&amp; MOTIVATION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15212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Why VR is Better than Traditional 2D Methods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793790" y="3278981"/>
            <a:ext cx="7556421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Electric fields are inherently three-dimensional, requiring spatial understanding.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2D diagrams cannot accurately represent complex spatial relationships and field behaviour.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VR offers dynamic exploration of fields from any angle, enhancing perception.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Provides an immersive and interactive learning environment for deeper engagement.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Facilitates clearer comprehension of principles like superposition and identification of null points.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88576"/>
            <a:ext cx="1378387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056561"/>
            <a:ext cx="110621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05545"/>
            <a:ext cx="71354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What We Set Out to Build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554486"/>
            <a:ext cx="6407944" cy="2048351"/>
          </a:xfrm>
          <a:prstGeom prst="roundRect">
            <a:avLst>
              <a:gd name="adj" fmla="val 1661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4270" y="2584966"/>
            <a:ext cx="6346984" cy="680442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27621" y="271248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051084" y="3492222"/>
            <a:ext cx="34104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VR Visualization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398264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a VR-based electric field visualization system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2554486"/>
            <a:ext cx="6408063" cy="2048351"/>
          </a:xfrm>
          <a:prstGeom prst="roundRect">
            <a:avLst>
              <a:gd name="adj" fmla="val 1661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59027" y="2584966"/>
            <a:ext cx="6347103" cy="680442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62498" y="271248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685842" y="3492222"/>
            <a:ext cx="35350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Interactive 3D Placement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98264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Enable interactive placement of charges in 3D space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29651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4270" y="4860131"/>
            <a:ext cx="6346984" cy="680442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27621" y="498764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051084" y="5767388"/>
            <a:ext cx="33572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Dynamic Field Behavior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084" y="625780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Visualize electric field behavior dynamically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4829651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59027" y="4860131"/>
            <a:ext cx="6347103" cy="680442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62498" y="498764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7685842" y="5767388"/>
            <a:ext cx="28459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Immersive Learning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85842" y="625780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conceptual understanding using immersive learning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3" y="1479233"/>
            <a:ext cx="5271135" cy="527113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625197"/>
            <a:ext cx="2012156" cy="397907"/>
          </a:xfrm>
          <a:prstGeom prst="roundRect">
            <a:avLst>
              <a:gd name="adj" fmla="val 649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9373" y="689729"/>
            <a:ext cx="1753791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80190" y="1104900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Overview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6280190" y="2085380"/>
            <a:ext cx="7556421" cy="1226225"/>
          </a:xfrm>
          <a:prstGeom prst="roundRect">
            <a:avLst>
              <a:gd name="adj" fmla="val 2636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95574" y="230076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Platform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95574" y="2760107"/>
            <a:ext cx="71256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Virtual Reality scientific simulator for electric fields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80190" y="3516273"/>
            <a:ext cx="7556421" cy="1226225"/>
          </a:xfrm>
          <a:prstGeom prst="roundRect">
            <a:avLst>
              <a:gd name="adj" fmla="val 2636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95574" y="373165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Tech Stack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95574" y="4191000"/>
            <a:ext cx="71256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 using Unity and XR Interaction Toolkit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80190" y="4947166"/>
            <a:ext cx="7556421" cy="1226225"/>
          </a:xfrm>
          <a:prstGeom prst="roundRect">
            <a:avLst>
              <a:gd name="adj" fmla="val 2636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95574" y="516255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Interaction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95574" y="5621893"/>
            <a:ext cx="71256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Users can place positive and negative charges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80190" y="6378059"/>
            <a:ext cx="7556421" cy="1226225"/>
          </a:xfrm>
          <a:prstGeom prst="roundRect">
            <a:avLst>
              <a:gd name="adj" fmla="val 2636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95574" y="659344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Configurations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495574" y="7052786"/>
            <a:ext cx="71256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Supports multiple configurations (single charge, dipole, multi-charge)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36032"/>
            <a:ext cx="1626275" cy="397907"/>
          </a:xfrm>
          <a:prstGeom prst="roundRect">
            <a:avLst>
              <a:gd name="adj" fmla="val 649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2972" y="700564"/>
            <a:ext cx="1367909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115735"/>
            <a:ext cx="9634537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Physics Engine &amp; Field Computation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93790" y="3917752"/>
            <a:ext cx="6258520" cy="1966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Electric field uses Coulomb's Law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Multiple charges use superposition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Vectors show magnitude and direction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Field lines use numerical tracing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Updates in real time as charges move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310" y="2345055"/>
            <a:ext cx="5036701" cy="50367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24664"/>
            <a:ext cx="1727002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192649"/>
            <a:ext cx="14548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41634"/>
            <a:ext cx="10409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Interaction Modes &amp; Visual Encoding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690574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310" y="269057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2524" y="2947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Place Mode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43828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Charge placement system in 3D environment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690574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86482" y="269057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65696" y="2947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Edit Mode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5696" y="343828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Modify existing charges and properties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690574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9653" y="269057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88868" y="2947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Observe Mode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88868" y="343828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Animated flow particles along field lines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464820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310" y="4648200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2524" y="49054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Visual Encoding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2524" y="539591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Color → charge polarity (positive/negative); Arrows → field direction; Density → magnitude of field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5216962" y="4648200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86482" y="4648200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65696" y="49054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UI Controls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65696" y="539591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UI panels for controlling charge properties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51692"/>
            <a:ext cx="3061811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219676"/>
            <a:ext cx="278963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TECHNICAL IMPLEMENTATION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686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Core Technologies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17602"/>
            <a:ext cx="453628" cy="453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454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Unity 2022.3 LTS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94513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in Unity 2022.3 LTS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17602"/>
            <a:ext cx="453628" cy="453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3454717"/>
            <a:ext cx="31534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XR Interaction Toolkit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394513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XR Interaction Toolkit for VR interaction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17602"/>
            <a:ext cx="453628" cy="453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3454717"/>
            <a:ext cx="36643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Field Computation Engine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394513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Field computation engine based on physics equations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124569"/>
            <a:ext cx="453628" cy="4536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3790" y="5861685"/>
            <a:ext cx="32426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Line Rendering System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93790" y="635210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Line rendering system for field visualization</a:t>
            </a:r>
            <a:endParaRPr lang="en-US" sz="17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5124569"/>
            <a:ext cx="453628" cy="4536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35893" y="5861685"/>
            <a:ext cx="33468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Optimized Performance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5235893" y="635210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Optimized for real-time performance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7230"/>
            <a:ext cx="2162056" cy="397907"/>
          </a:xfrm>
          <a:prstGeom prst="roundRect">
            <a:avLst>
              <a:gd name="adj" fmla="val 649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2972" y="761762"/>
            <a:ext cx="1903690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INTERACTION DESIGN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176933"/>
            <a:ext cx="873692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Advanced Interaction &amp; Features</a:t>
            </a:r>
            <a:endParaRPr lang="en-US" sz="4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87679"/>
            <a:ext cx="4914305" cy="49143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00217" y="2341602"/>
            <a:ext cx="734389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00217" y="2861905"/>
            <a:ext cx="734389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500217" y="3382208"/>
            <a:ext cx="7343894" cy="237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adjustment of charge magnitude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Intuitive 3D charge manipulation (grab, move, reposition)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 support for both positive and negative charges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 of a test charge to observe field behavior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Dynamic test charge movement along electric field lines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Enhanced comprehension of electric field dynamics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46522"/>
            <a:ext cx="2387918" cy="397907"/>
          </a:xfrm>
          <a:prstGeom prst="roundRect">
            <a:avLst>
              <a:gd name="adj" fmla="val 649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2972" y="811054"/>
            <a:ext cx="2129552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DEVELOPMENT PROCESS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226225"/>
            <a:ext cx="648581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Week-by-Week Progress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299960" y="2206704"/>
            <a:ext cx="30480" cy="5276255"/>
          </a:xfrm>
          <a:prstGeom prst="roundRect">
            <a:avLst>
              <a:gd name="adj" fmla="val 106046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56878" y="2433876"/>
            <a:ext cx="646390" cy="30480"/>
          </a:xfrm>
          <a:prstGeom prst="roundRect">
            <a:avLst>
              <a:gd name="adj" fmla="val 106046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72789" y="2206704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53632" y="2247126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544253" y="228076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Week 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93790" y="2740104"/>
            <a:ext cx="54440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Ideation and project selection; finalized VR electric field simulator and defined system components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27131" y="3705106"/>
            <a:ext cx="646390" cy="30480"/>
          </a:xfrm>
          <a:prstGeom prst="roundRect">
            <a:avLst>
              <a:gd name="adj" fmla="val 106046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72789" y="3477935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53632" y="3518356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392597" y="355199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Week 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92597" y="4011335"/>
            <a:ext cx="54440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Set up Unity environment, created VR scene, implemented basic charge placement and interaction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56878" y="4808696"/>
            <a:ext cx="646390" cy="30480"/>
          </a:xfrm>
          <a:prstGeom prst="roundRect">
            <a:avLst>
              <a:gd name="adj" fmla="val 106046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72789" y="4581525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53632" y="4621947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3544253" y="465558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Week 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93790" y="5114925"/>
            <a:ext cx="54440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Implemented electric field computation using Coulomb's law, added vector visualization and real-time updates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527131" y="5912287"/>
            <a:ext cx="646390" cy="30480"/>
          </a:xfrm>
          <a:prstGeom prst="roundRect">
            <a:avLst>
              <a:gd name="adj" fmla="val 106046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72789" y="5685115"/>
            <a:ext cx="484823" cy="484823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53632" y="5725537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8392597" y="575917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Week 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392597" y="6218515"/>
            <a:ext cx="5444014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Implemented field lines, color-based strength visualization, UI controls, and completed system integration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484948"/>
            <a:ext cx="5259705" cy="52597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1134547"/>
            <a:ext cx="2482572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29878" y="1202531"/>
            <a:ext cx="221039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 &amp; EVALUATION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16515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User Study Insights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93790" y="270045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30906" y="2774156"/>
            <a:ext cx="28992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Users showed better understanding using VR compared to 2D tools.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713684" y="270045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50800" y="2774156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Significant improvement in concepts like superposition.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43164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530906" y="4390192"/>
            <a:ext cx="28992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Users found the system intuitive and engaging, enhancing their learning experience.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713684" y="43164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50800" y="4390192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usability scores indicate a positive and effective user experience.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93790" y="629543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530906" y="636912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VR enabled a superior spatial understanding of complex electric fields.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32815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37" y="1475184"/>
            <a:ext cx="5282327" cy="52823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623768"/>
            <a:ext cx="2322314" cy="370642"/>
          </a:xfrm>
          <a:prstGeom prst="roundRect">
            <a:avLst>
              <a:gd name="adj" fmla="val 660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2586" y="684967"/>
            <a:ext cx="207752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DEVELOPMENT HURDLES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80190" y="1067872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Challenges Faced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280190" y="2287429"/>
            <a:ext cx="3686294" cy="2415897"/>
          </a:xfrm>
          <a:prstGeom prst="roundRect">
            <a:avLst>
              <a:gd name="adj" fmla="val 4542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80190" y="2264569"/>
            <a:ext cx="3686294" cy="91440"/>
          </a:xfrm>
          <a:prstGeom prst="roundRect">
            <a:avLst>
              <a:gd name="adj" fmla="val 3348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817108" y="1981319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00821" y="2134433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07123" y="2797731"/>
            <a:ext cx="3232428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Real-time Field Computation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07123" y="3545562"/>
            <a:ext cx="323242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Ensuring accurate electric field calculations without lag.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50197" y="2287429"/>
            <a:ext cx="3686413" cy="2415897"/>
          </a:xfrm>
          <a:prstGeom prst="roundRect">
            <a:avLst>
              <a:gd name="adj" fmla="val 4542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150197" y="2264569"/>
            <a:ext cx="3686413" cy="91440"/>
          </a:xfrm>
          <a:prstGeom prst="roundRect">
            <a:avLst>
              <a:gd name="adj" fmla="val 3348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687235" y="1981319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870948" y="2134433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377130" y="2797731"/>
            <a:ext cx="3232547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Performance Optimization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377130" y="3545562"/>
            <a:ext cx="323254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Maintaining smooth performance with an increasing number of charges.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80190" y="5193149"/>
            <a:ext cx="3686294" cy="2415897"/>
          </a:xfrm>
          <a:prstGeom prst="roundRect">
            <a:avLst>
              <a:gd name="adj" fmla="val 4542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280190" y="5170289"/>
            <a:ext cx="3686294" cy="91440"/>
          </a:xfrm>
          <a:prstGeom prst="roundRect">
            <a:avLst>
              <a:gd name="adj" fmla="val 3348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817108" y="4887039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00821" y="5040154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6507123" y="570345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Non-VR Interaction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507123" y="6132433"/>
            <a:ext cx="3232428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Designing effective interaction methods for users without VR hardware.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150197" y="5193149"/>
            <a:ext cx="3686413" cy="2415897"/>
          </a:xfrm>
          <a:prstGeom prst="roundRect">
            <a:avLst>
              <a:gd name="adj" fmla="val 4542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0150197" y="5170289"/>
            <a:ext cx="3686413" cy="91440"/>
          </a:xfrm>
          <a:prstGeom prst="roundRect">
            <a:avLst>
              <a:gd name="adj" fmla="val 3348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1687235" y="4887039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1870948" y="5040154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10377130" y="5703451"/>
            <a:ext cx="3232547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Accuracy vs. Performance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0377130" y="6451283"/>
            <a:ext cx="323254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Finding the right balance between computational precision and frame rates.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89303"/>
            <a:ext cx="2347674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157288"/>
            <a:ext cx="207549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CONSTRAINTS &amp;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062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Limitations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65521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Understanding these limitations helps clarify what the simulator can do today and where future improvements should focus. They define the current scope while guiding next development priorities.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690446" y="3636169"/>
            <a:ext cx="11146165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63310" y="4223742"/>
            <a:ext cx="60960" cy="1277183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81564" y="4254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Electric Fields Only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81564" y="4744641"/>
            <a:ext cx="60918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simulator is currently limited to electric fields, with no support for magnetism or gravity.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6404" y="4223742"/>
            <a:ext cx="60960" cy="1277183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44658" y="4254222"/>
            <a:ext cx="43781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Extreme Scenario Performance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44658" y="4744641"/>
            <a:ext cx="60919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Very large charge counts or complex field geometries may still affect real-time performance.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63310" y="5893594"/>
            <a:ext cx="60960" cy="1277183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81564" y="59240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 Haptic Feedback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81564" y="6414492"/>
            <a:ext cx="60918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experience remains visual and interactive, without tactile force feedback.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6404" y="5893594"/>
            <a:ext cx="60960" cy="1277183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44658" y="5924074"/>
            <a:ext cx="41508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Limited Quantitative Analysis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44658" y="6414492"/>
            <a:ext cx="60919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Advanced data export and deeper analytical tools are not yet fully integrated.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1004292"/>
            <a:ext cx="1591866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29878" y="1072277"/>
            <a:ext cx="131968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15212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Applications and Use Cases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793790" y="3278981"/>
            <a:ext cx="7556421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Transforming complex electric field concepts into intuitive 3D experiences for physics students, enhancing comprehension.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Providing hands-on virtual experience for engineering students and professionals to grasp advanced electromagnetic principles.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Enhancing traditional teaching methods in classrooms and labs with dynamic, engaging VR experiments and interactive visualisations.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Empowering students with a flexible and accessible self-learning tool for independent exploration and mastery of electric field theory.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Laying the groundwork for future expansion into other essential physics simulations, such as magnetism, fluid dynamics.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00"/>
    </mc:Choice>
    <mc:Fallback>
      <p:transition spd="slow" advTm="1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3" y="1479233"/>
            <a:ext cx="5271135" cy="527113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975955"/>
            <a:ext cx="2886194" cy="397907"/>
          </a:xfrm>
          <a:prstGeom prst="roundRect">
            <a:avLst>
              <a:gd name="adj" fmla="val 649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9373" y="1040487"/>
            <a:ext cx="262782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FUTURE WORK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80190" y="1455658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Looking Ahead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6280190" y="2436138"/>
            <a:ext cx="7556421" cy="2102525"/>
          </a:xfrm>
          <a:prstGeom prst="roundRect">
            <a:avLst>
              <a:gd name="adj" fmla="val 6958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49710" y="2436138"/>
            <a:ext cx="121920" cy="2102525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17494" y="268200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617494" y="3141345"/>
            <a:ext cx="6973253" cy="1151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VR significantly improves visualization of complex physics concepts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simulation enhances learning and engagement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successfully demonstrates advantages of VR in education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280190" y="4743331"/>
            <a:ext cx="7556421" cy="2510195"/>
          </a:xfrm>
          <a:prstGeom prst="roundRect">
            <a:avLst>
              <a:gd name="adj" fmla="val 5828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49710" y="4743331"/>
            <a:ext cx="121920" cy="2510195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17494" y="498919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Future Work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617494" y="5448538"/>
            <a:ext cx="697325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Support for magnetic field simulation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3D interaction (height control)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Multiplayer collaborative learning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Advanced visualization techniques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00"/>
    </mc:Choice>
    <mc:Fallback>
      <p:transition spd="slow" advTm="1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484948"/>
            <a:ext cx="5259705" cy="5259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44604"/>
            <a:ext cx="7556421" cy="425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700"/>
              </a:lnSpc>
              <a:buNone/>
            </a:pPr>
            <a:r>
              <a:rPr lang="en-US" sz="13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Thank You!</a:t>
            </a:r>
            <a:endParaRPr lang="en-US" sz="13350" dirty="0"/>
          </a:p>
        </p:txBody>
      </p:sp>
      <p:sp>
        <p:nvSpPr>
          <p:cNvPr id="5" name="Shape 2"/>
          <p:cNvSpPr/>
          <p:nvPr/>
        </p:nvSpPr>
        <p:spPr>
          <a:xfrm>
            <a:off x="6280190" y="5294352"/>
            <a:ext cx="7556421" cy="16907"/>
          </a:xfrm>
          <a:prstGeom prst="rect">
            <a:avLst/>
          </a:prstGeom>
          <a:solidFill>
            <a:srgbClr val="74655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0190" y="562308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 your attention and support.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24113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Badrinath Tirlangi, Prem Santhosh Vempati, Hemanth Kumar Ampili, Shaik Jameel Ur Rahaman, Karthik Koneti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722209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DES643 – Design with AR/VR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874</Words>
  <Application>Microsoft Macintosh PowerPoint</Application>
  <PresentationFormat>Custom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Gelasio Semi Bold</vt:lpstr>
      <vt:lpstr>Aptos Display</vt:lpstr>
      <vt:lpstr>Aptos</vt:lpstr>
      <vt:lpstr>Gelasio</vt:lpstr>
      <vt:lpstr>Arial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Prem Santhosh Vempati</cp:lastModifiedBy>
  <cp:revision>9</cp:revision>
  <dcterms:created xsi:type="dcterms:W3CDTF">2026-04-23T14:31:45Z</dcterms:created>
  <dcterms:modified xsi:type="dcterms:W3CDTF">2026-04-23T18:19:10Z</dcterms:modified>
</cp:coreProperties>
</file>